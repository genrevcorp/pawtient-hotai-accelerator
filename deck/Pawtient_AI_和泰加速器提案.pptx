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60">
                <a:solidFill>
                  <a:srgbClr val="AE8C9D"/>
                </a:solidFill>
                <a:latin typeface="PingFang TC"/>
                <a:ea typeface="PingFang TC"/>
              </a:rPr>
              <a:t>機密文件 · 僅供受文單位內部評估之用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417320"/>
            <a:ext cx="4114800" cy="420624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149961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7FA6"/>
                </a:solidFill>
                <a:latin typeface="PingFang TC"/>
                <a:ea typeface="PingFang TC"/>
              </a:rPr>
              <a:t>● </a:t>
            </a:r>
            <a:r>
              <a:rPr sz="1250" b="1" i="0">
                <a:solidFill>
                  <a:srgbClr val="F6E9F0"/>
                </a:solidFill>
                <a:latin typeface="PingFang TC"/>
                <a:ea typeface="PingFang TC"/>
              </a:rPr>
              <a:t>2026 和泰加速器 · 第二期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D47FA6"/>
                </a:solidFill>
                <a:latin typeface="PingFang TC"/>
                <a:ea typeface="PingFang TC"/>
              </a:rPr>
              <a:t>主題 3 · 創新產險銷售方案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PingFang TC"/>
                <a:ea typeface="PingFang TC"/>
              </a:rPr>
              <a:t>Pawtient AI</a:t>
            </a:r>
            <a:r>
              <a:rPr sz="3600" b="1" i="0">
                <a:solidFill>
                  <a:srgbClr val="D47FA6"/>
                </a:solidFill>
                <a:latin typeface="PingFang TC"/>
                <a:ea typeface="PingFang TC"/>
              </a:rPr>
              <a:t>  × 和泰產險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FFFFFF"/>
                </a:solidFill>
                <a:latin typeface="PingFang TC"/>
                <a:ea typeface="PingFang TC"/>
              </a:rPr>
              <a:t>把寵物保險從「</a:t>
            </a:r>
            <a:r>
              <a:rPr sz="2500" b="1" i="0">
                <a:solidFill>
                  <a:srgbClr val="D47FA6"/>
                </a:solidFill>
                <a:latin typeface="PingFang TC"/>
                <a:ea typeface="PingFang TC"/>
              </a:rPr>
              <a:t>事後理賠</a:t>
            </a:r>
            <a:r>
              <a:rPr sz="2500" b="1" i="0">
                <a:solidFill>
                  <a:srgbClr val="FFFFFF"/>
                </a:solidFill>
                <a:latin typeface="PingFang TC"/>
                <a:ea typeface="PingFang TC"/>
              </a:rPr>
              <a:t>」，升級為「</a:t>
            </a:r>
            <a:r>
              <a:rPr sz="2500" b="1" i="0">
                <a:solidFill>
                  <a:srgbClr val="D47FA6"/>
                </a:solidFill>
                <a:latin typeface="PingFang TC"/>
                <a:ea typeface="PingFang TC"/>
              </a:rPr>
              <a:t>事前健康資料系統</a:t>
            </a:r>
            <a:r>
              <a:rPr sz="2500" b="1" i="0">
                <a:solidFill>
                  <a:srgbClr val="FFFFFF"/>
                </a:solidFill>
                <a:latin typeface="PingFang TC"/>
                <a:ea typeface="PingFang TC"/>
              </a:rPr>
              <a:t>」。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500" b="0" i="0">
                <a:solidFill>
                  <a:srgbClr val="D8BECB"/>
                </a:solidFill>
                <a:latin typeface="PingFang TC"/>
                <a:ea typeface="PingFang TC"/>
              </a:rPr>
              <a:t>對飼主，把風險講懂、把投保變簡單；對和泰，把理賠審核變省。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852160"/>
            <a:ext cx="10515600" cy="15240"/>
          </a:xfrm>
          <a:prstGeom prst="rect">
            <a:avLst/>
          </a:prstGeom>
          <a:solidFill>
            <a:srgbClr val="52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0167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6E9F0"/>
                </a:solidFill>
                <a:latin typeface="PingFang TC"/>
                <a:ea typeface="PingFang TC"/>
              </a:rPr>
              <a:t>通用創新有限公司 General Innovation</a:t>
            </a:r>
            <a:r>
              <a:rPr sz="1200" b="0" i="0">
                <a:solidFill>
                  <a:srgbClr val="AE8C9D"/>
                </a:solidFill>
                <a:latin typeface="PingFang TC"/>
                <a:ea typeface="PingFang TC"/>
              </a:rPr>
              <a:t>      創辦人 林緯軒 Sean Lin      iOS 用戶 1,000+      雙平台 · 9 種語言      generalrev.com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EXECUTIVE SUMMARY · 一頁看懂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000" b="1" i="0">
                <a:solidFill>
                  <a:srgbClr val="2B2126"/>
                </a:solidFill>
                <a:latin typeface="PingFang TC"/>
                <a:ea typeface="PingFang TC"/>
              </a:rPr>
              <a:t>把寵物保險從「事後理賠」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000" b="1" i="0">
                <a:solidFill>
                  <a:srgbClr val="2B2126"/>
                </a:solidFill>
                <a:latin typeface="PingFang TC"/>
                <a:ea typeface="PingFang TC"/>
              </a:rPr>
              <a:t>升級為「</a:t>
            </a:r>
            <a:r>
              <a:rPr sz="3000" b="1" i="0">
                <a:solidFill>
                  <a:srgbClr val="8C3E66"/>
                </a:solidFill>
                <a:latin typeface="PingFang TC"/>
                <a:ea typeface="PingFang TC"/>
              </a:rPr>
              <a:t>事前健康資料系統</a:t>
            </a:r>
            <a:r>
              <a:rPr sz="3000" b="1" i="0">
                <a:solidFill>
                  <a:srgbClr val="2B2126"/>
                </a:solidFill>
                <a:latin typeface="PingFang TC"/>
                <a:ea typeface="PingFang TC"/>
              </a:rPr>
              <a:t>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48256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788920"/>
            <a:ext cx="3346704" cy="214884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788920"/>
            <a:ext cx="50800" cy="2148840"/>
          </a:xfrm>
          <a:prstGeom prst="rect">
            <a:avLst/>
          </a:prstGeom>
          <a:solidFill>
            <a:srgbClr val="A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044952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126"/>
                </a:solidFill>
                <a:latin typeface="PingFang TC"/>
                <a:ea typeface="PingFang TC"/>
              </a:rPr>
              <a:t>已上線的事實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630168"/>
            <a:ext cx="27980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iOS 用戶 1,000+、雙平台 9 語系；血檢辨識 95.2%。不是概念，是已落地產品。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788920"/>
            <a:ext cx="3346704" cy="214884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788920"/>
            <a:ext cx="50800" cy="2148840"/>
          </a:xfrm>
          <a:prstGeom prst="rect">
            <a:avLst/>
          </a:prstGeom>
          <a:solidFill>
            <a:srgbClr val="2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3044952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126"/>
                </a:solidFill>
                <a:latin typeface="PingFang TC"/>
                <a:ea typeface="PingFang TC"/>
              </a:rPr>
              <a:t>雙槓桿一次打中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630168"/>
            <a:ext cx="27980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銷售↑：差異化獲客與續保；人工↓：理賠審核工時與補件往返。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788920"/>
            <a:ext cx="3346704" cy="214884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788920"/>
            <a:ext cx="50800" cy="2148840"/>
          </a:xfrm>
          <a:prstGeom prst="rect">
            <a:avLst/>
          </a:prstGeom>
          <a:solidFill>
            <a:srgbClr val="A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044952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126"/>
                </a:solidFill>
                <a:latin typeface="PingFang TC"/>
                <a:ea typeface="PingFang TC"/>
              </a:rPr>
              <a:t>低風險就能進場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30168"/>
            <a:ext cx="27980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可逆試點、不系統整合、資料不作核保依據——說 yes 的成本極低。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230368"/>
            <a:ext cx="10506456" cy="841248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58384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47FA6"/>
                </a:solidFill>
                <a:latin typeface="PingFang TC"/>
                <a:ea typeface="PingFang TC"/>
              </a:rPr>
              <a:t>我們的請求：</a:t>
            </a: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給 30 分鐘 + 一小批寵物險保戶試點 3 個月，用和泰自己的數據決定要不要擴大。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命題對焦 · 對應保險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2700" b="1" i="0">
                <a:solidFill>
                  <a:srgbClr val="2B2126"/>
                </a:solidFill>
                <a:latin typeface="PingFang TC"/>
                <a:ea typeface="PingFang TC"/>
              </a:rPr>
              <a:t>同時把「</a:t>
            </a:r>
            <a:r>
              <a:rPr sz="2700" b="1" i="0">
                <a:solidFill>
                  <a:srgbClr val="8C3E66"/>
                </a:solidFill>
                <a:latin typeface="PingFang TC"/>
                <a:ea typeface="PingFang TC"/>
              </a:rPr>
              <a:t>保單成長</a:t>
            </a:r>
            <a:r>
              <a:rPr sz="2700" b="1" i="0">
                <a:solidFill>
                  <a:srgbClr val="2B2126"/>
                </a:solidFill>
                <a:latin typeface="PingFang TC"/>
                <a:ea typeface="PingFang TC"/>
              </a:rPr>
              <a:t>」做大、「</a:t>
            </a:r>
            <a:r>
              <a:rPr sz="2700" b="1" i="0">
                <a:solidFill>
                  <a:srgbClr val="8C3E66"/>
                </a:solidFill>
                <a:latin typeface="PingFang TC"/>
                <a:ea typeface="PingFang TC"/>
              </a:rPr>
              <a:t>理賠作業成本</a:t>
            </a:r>
            <a:r>
              <a:rPr sz="2700" b="1" i="0">
                <a:solidFill>
                  <a:srgbClr val="2B2126"/>
                </a:solidFill>
                <a:latin typeface="PingFang TC"/>
                <a:ea typeface="PingFang TC"/>
              </a:rPr>
              <a:t>」做小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9222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E5C66"/>
                </a:solidFill>
                <a:latin typeface="PingFang TC"/>
                <a:ea typeface="PingFang TC"/>
              </a:rPr>
              <a:t>用 AI 在同一條保險價值鏈上，一邊提升營收、一邊降低營運人力成本。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5074920" cy="2651760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505456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D47FA6"/>
                </a:solidFill>
                <a:latin typeface="PingFang TC"/>
                <a:ea typeface="PingFang TC"/>
              </a:rPr>
              <a:t>↑  SELL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1635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ingFang TC"/>
                <a:ea typeface="PingFang TC"/>
              </a:rPr>
              <a:t>提升保單轉換與續保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273552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D8BECB"/>
                </a:solidFill>
                <a:latin typeface="PingFang TC"/>
                <a:ea typeface="PingFang TC"/>
              </a:rPr>
              <a:t>· 提升投保理解度，降低資訊不對稱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200" b="0" i="0">
                <a:solidFill>
                  <a:srgbClr val="D8BECB"/>
                </a:solidFill>
                <a:latin typeface="PingFang TC"/>
                <a:ea typeface="PingFang TC"/>
              </a:rPr>
              <a:t>· 健康服務加值 → 強化投保誘因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200" b="0" i="0">
                <a:solidFill>
                  <a:srgbClr val="D8BECB"/>
                </a:solidFill>
                <a:latin typeface="PingFang TC"/>
                <a:ea typeface="PingFang TC"/>
              </a:rPr>
              <a:t>· 健康資料累積 → 續保黏著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4805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7FA6"/>
                </a:solidFill>
                <a:latin typeface="PingFang TC"/>
                <a:ea typeface="PingFang TC"/>
              </a:rPr>
              <a:t>KPI　</a:t>
            </a:r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投保轉換率↑ · 續保率↑ · 獲客成本↓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286000"/>
            <a:ext cx="5074920" cy="2651760"/>
          </a:xfrm>
          <a:prstGeom prst="roundRect">
            <a:avLst>
              <a:gd name="adj" fmla="val 6000"/>
            </a:avLst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05456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D8BECB"/>
                </a:solidFill>
                <a:latin typeface="PingFang TC"/>
                <a:ea typeface="PingFang TC"/>
              </a:rPr>
              <a:t>↓  SPEND LESS LABOUR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1635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ingFang TC"/>
                <a:ea typeface="PingFang TC"/>
              </a:rPr>
              <a:t>降低理賠作業與客服人力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73552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F7E9F0"/>
                </a:solidFill>
                <a:latin typeface="PingFang TC"/>
                <a:ea typeface="PingFang TC"/>
              </a:rPr>
              <a:t>· 理賠資料結構化 → 減少人工整理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200" b="0" i="0">
                <a:solidFill>
                  <a:srgbClr val="F7E9F0"/>
                </a:solidFill>
                <a:latin typeface="PingFang TC"/>
                <a:ea typeface="PingFang TC"/>
              </a:rPr>
              <a:t>· 病歷時間軸化 → 加速審核判斷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200" b="0" i="0">
                <a:solidFill>
                  <a:srgbClr val="F7E9F0"/>
                </a:solidFill>
                <a:latin typeface="PingFang TC"/>
                <a:ea typeface="PingFang TC"/>
              </a:rPr>
              <a:t>· 行為數據輔助 → 降低爭議與補件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7FA6"/>
                </a:solidFill>
                <a:latin typeface="PingFang TC"/>
                <a:ea typeface="PingFang TC"/>
              </a:rPr>
              <a:t>KPI　</a:t>
            </a:r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審核工時↓ · 人力成本↓ · 爭議率↓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120640"/>
            <a:ext cx="10506456" cy="960120"/>
          </a:xfrm>
          <a:prstGeom prst="roundRect">
            <a:avLst>
              <a:gd name="adj" fmla="val 6000"/>
            </a:avLst>
          </a:prstGeom>
          <a:solidFill>
            <a:srgbClr val="F6E9F0"/>
          </a:solidFill>
          <a:ln w="12700">
            <a:solidFill>
              <a:srgbClr val="EB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9512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8C3E66"/>
                </a:solidFill>
                <a:latin typeface="PingFang TC"/>
                <a:ea typeface="PingFang TC"/>
              </a:rPr>
              <a:t>一句話　</a:t>
            </a:r>
            <a:r>
              <a:rPr sz="1350" b="1" i="0">
                <a:solidFill>
                  <a:srgbClr val="2B2126"/>
                </a:solidFill>
                <a:latin typeface="PingFang TC"/>
                <a:ea typeface="PingFang TC"/>
              </a:rPr>
              <a:t>AI 同時牽動「保單成交」與「理賠作業效率」——把保險從事後理賠，變成事前健康資料系統。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100" b="0" i="0">
                <a:solidFill>
                  <a:srgbClr val="6E5C66"/>
                </a:solidFill>
                <a:latin typeface="PingFang TC"/>
                <a:ea typeface="PingFang TC"/>
              </a:rPr>
              <a:t>和泰公布的汽車案例（銷售業代評核 AI · 輿情 · 0800 客服）底層相同——Pawtient 是已上線、發生在寵物險裡的版本。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命題對焦 · KPI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47FA6"/>
                </a:solidFill>
                <a:latin typeface="PingFang TC"/>
                <a:ea typeface="PingFang TC"/>
              </a:rPr>
              <a:t>SYSTEM MODEL · 一頁總模型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000" b="1" i="0">
                <a:solidFill>
                  <a:srgbClr val="FFFFFF"/>
                </a:solidFill>
                <a:latin typeface="PingFang TC"/>
                <a:ea typeface="PingFang TC"/>
              </a:rPr>
              <a:t>把銷售、理賠、數據，串成一個</a:t>
            </a:r>
            <a:r>
              <a:rPr sz="3000" b="1" i="0">
                <a:solidFill>
                  <a:srgbClr val="8C3E66"/>
                </a:solidFill>
                <a:latin typeface="PingFang TC"/>
                <a:ea typeface="PingFang TC"/>
              </a:rPr>
              <a:t>飛輪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D8BECB"/>
                </a:solidFill>
                <a:latin typeface="PingFang TC"/>
                <a:ea typeface="PingFang TC"/>
              </a:rPr>
              <a:t>不是四張分開的投影片，而是一個會越跑越強的系統：Pawtient 保險智能閉環。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97480"/>
            <a:ext cx="1847088" cy="18288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355848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1693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7FA6"/>
                </a:solidFill>
                <a:latin typeface="PingFang TC"/>
                <a:ea typeface="PingFang T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27832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PingFang TC"/>
                <a:ea typeface="PingFang TC"/>
              </a:rPr>
              <a:t>健康數據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576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D8BECB"/>
                </a:solidFill>
                <a:latin typeface="PingFang TC"/>
                <a:ea typeface="PingFang TC"/>
              </a:rPr>
              <a:t>App 血檢／用藥 + Watch 行為，自動結構化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2697480"/>
            <a:ext cx="1847088" cy="18288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3355848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91693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7FA6"/>
                </a:solidFill>
                <a:latin typeface="PingFang TC"/>
                <a:ea typeface="PingFang T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3227832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PingFang TC"/>
                <a:ea typeface="PingFang TC"/>
              </a:rPr>
              <a:t>風險可視化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36576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D8BECB"/>
                </a:solidFill>
                <a:latin typeface="PingFang TC"/>
                <a:ea typeface="PingFang TC"/>
              </a:rPr>
              <a:t>對「飼主」把毛孩健康風險講懂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2624" y="2697480"/>
            <a:ext cx="1847088" cy="18288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3355848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91693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7FA6"/>
                </a:solidFill>
                <a:latin typeface="PingFang TC"/>
                <a:ea typeface="PingFang T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227832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PingFang TC"/>
                <a:ea typeface="PingFang TC"/>
              </a:rPr>
              <a:t>投保轉換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6576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D8BECB"/>
                </a:solidFill>
                <a:latin typeface="PingFang TC"/>
                <a:ea typeface="PingFang TC"/>
              </a:rPr>
              <a:t>降低猶豫、差異化獲客與續保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68312" y="2697480"/>
            <a:ext cx="1847088" cy="18288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3355848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91693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7FA6"/>
                </a:solidFill>
                <a:latin typeface="PingFang TC"/>
                <a:ea typeface="PingFang T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3227832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PingFang TC"/>
                <a:ea typeface="PingFang TC"/>
              </a:rPr>
              <a:t>理賠結構化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36576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D8BECB"/>
                </a:solidFill>
                <a:latin typeface="PingFang TC"/>
                <a:ea typeface="PingFang TC"/>
              </a:rPr>
              <a:t>資料一次到位、AI 標風險、審核變省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697480"/>
            <a:ext cx="1847088" cy="1828800"/>
          </a:xfrm>
          <a:prstGeom prst="roundRect">
            <a:avLst>
              <a:gd name="adj" fmla="val 6000"/>
            </a:avLst>
          </a:prstGeom>
          <a:solidFill>
            <a:srgbClr val="8C3E66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91693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7FA6"/>
                </a:solidFill>
                <a:latin typeface="PingFang TC"/>
                <a:ea typeface="PingFang T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27832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PingFang TC"/>
                <a:ea typeface="PingFang TC"/>
              </a:rPr>
              <a:t>回饋服務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6576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D8BECB"/>
                </a:solidFill>
                <a:latin typeface="PingFang TC"/>
                <a:ea typeface="PingFang TC"/>
              </a:rPr>
              <a:t>優化照護服務與獲客旅程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800600"/>
            <a:ext cx="10506456" cy="658368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A85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91032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47FA6"/>
                </a:solidFill>
                <a:latin typeface="PingFang TC"/>
                <a:ea typeface="PingFang TC"/>
              </a:rPr>
              <a:t>↺  飛輪　</a:t>
            </a:r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用得越久 → 資料越完整 → 銷售與審核都更有效；回饋只進「產品與服務設計」。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623560"/>
            <a:ext cx="10506456" cy="566928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 w="12700">
            <a:solidFill>
              <a:srgbClr val="EA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715000"/>
            <a:ext cx="10049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6B00"/>
                </a:solidFill>
                <a:latin typeface="PingFang TC"/>
                <a:ea typeface="PingFang TC"/>
              </a:rPr>
              <a:t>◆  </a:t>
            </a:r>
            <a:r>
              <a:rPr sz="1050" b="0" i="0">
                <a:solidFill>
                  <a:srgbClr val="6B5526"/>
                </a:solidFill>
                <a:latin typeface="PingFang TC"/>
                <a:ea typeface="PingFang TC"/>
              </a:rPr>
              <a:t>守紅線：最後一環回饋的是銷售與服務設計、獲客與照護旅程，不回饋核保或定價模型；資料不作為核保依據。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AE8C9D"/>
                </a:solidFill>
                <a:latin typeface="PingFang TC"/>
                <a:ea typeface="PingFang TC"/>
              </a:rPr>
              <a:t>總模型 · 閉環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01 · 解決方案與技術優勢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000" b="1" i="0">
                <a:solidFill>
                  <a:srgbClr val="2B2126"/>
                </a:solidFill>
                <a:latin typeface="PingFang TC"/>
                <a:ea typeface="PingFang TC"/>
              </a:rPr>
              <a:t>讓理賠從「文件判斷」變成「</a:t>
            </a:r>
            <a:r>
              <a:rPr sz="3000" b="1" i="0">
                <a:solidFill>
                  <a:srgbClr val="8C3E66"/>
                </a:solidFill>
                <a:latin typeface="PingFang TC"/>
                <a:ea typeface="PingFang TC"/>
              </a:rPr>
              <a:t>數據判斷</a:t>
            </a:r>
            <a:r>
              <a:rPr sz="3000" b="1" i="0">
                <a:solidFill>
                  <a:srgbClr val="2B2126"/>
                </a:solidFill>
                <a:latin typeface="PingFang TC"/>
                <a:ea typeface="PingFang TC"/>
              </a:rPr>
              <a:t>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慢性病理賠難，難在資訊不完整、時間斷裂。AI 把分散的醫療資訊，轉換成可用於理賠判斷的連續證據鏈。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97480"/>
            <a:ext cx="457200" cy="457200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" y="26609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結構化健康資料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9992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血檢自動解析（64 項）、異常標準化、趨勢對比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33009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F7D6E"/>
                </a:solidFill>
                <a:latin typeface="PingFang TC"/>
                <a:ea typeface="PingFang TC"/>
              </a:rPr>
              <a:t>→ 商業價值　</a:t>
            </a:r>
            <a:r>
              <a:rPr sz="1150" b="1" i="0">
                <a:solidFill>
                  <a:srgbClr val="2B2126"/>
                </a:solidFill>
                <a:latin typeface="PingFang TC"/>
                <a:ea typeface="PingFang TC"/>
              </a:rPr>
              <a:t>減少人工整理、提升審核一致性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794760"/>
            <a:ext cx="457200" cy="457200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375818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病程時間軸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40965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看診紀錄整合、病程可視化、事前 / 事後對照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439826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F7D6E"/>
                </a:solidFill>
                <a:latin typeface="PingFang TC"/>
                <a:ea typeface="PingFang TC"/>
              </a:rPr>
              <a:t>→ 商業價值　</a:t>
            </a:r>
            <a:r>
              <a:rPr sz="1150" b="1" i="0">
                <a:solidFill>
                  <a:srgbClr val="2B2126"/>
                </a:solidFill>
                <a:latin typeface="PingFang TC"/>
                <a:ea typeface="PingFang TC"/>
              </a:rPr>
              <a:t>降低理賠爭議、提升核賠效率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92040"/>
            <a:ext cx="457200" cy="457200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48554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行為數據補強 ·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51937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飲食 / 飲水 / 咳嗽偵測、長期連續、非人工輸入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54955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F7D6E"/>
                </a:solidFill>
                <a:latin typeface="PingFang TC"/>
                <a:ea typeface="PingFang TC"/>
              </a:rPr>
              <a:t>→ 商業價值　</a:t>
            </a:r>
            <a:r>
              <a:rPr sz="1150" b="1" i="0">
                <a:solidFill>
                  <a:srgbClr val="2B2126"/>
                </a:solidFill>
                <a:latin typeface="PingFang TC"/>
                <a:ea typeface="PingFang TC"/>
              </a:rPr>
              <a:t>強化既往症判斷、難以事後造假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612648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6E9F0"/>
          </a:solidFill>
          <a:ln w="12700">
            <a:solidFill>
              <a:srgbClr val="EB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227064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C3E66"/>
                </a:solidFill>
                <a:latin typeface="PingFang TC"/>
                <a:ea typeface="PingFang TC"/>
              </a:rPr>
              <a:t>信用錨　</a:t>
            </a:r>
            <a:r>
              <a:rPr sz="1150" b="1" i="0">
                <a:solidFill>
                  <a:srgbClr val="2B2126"/>
                </a:solidFill>
                <a:latin typeface="PingFang TC"/>
                <a:ea typeface="PingFang TC"/>
              </a:rPr>
              <a:t>血檢辨識 95.2% · iOS 用戶 1,000+（完整指標見 Appendix）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331720"/>
            <a:ext cx="1783080" cy="3865474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_blood_test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344" y="2386584"/>
            <a:ext cx="1673352" cy="375574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281160" y="2331720"/>
            <a:ext cx="1783080" cy="3865474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3_vet_visit_ai_brief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386584"/>
            <a:ext cx="1673352" cy="37557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01 / 08 · 解決方案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02 · 應用情境與價值 — 銷售轉換引擎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從健康數據到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保單成交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的轉換鏈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847088" cy="1874519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70048" y="304037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517D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694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3E66"/>
                </a:solidFill>
                <a:latin typeface="PingFang TC"/>
                <a:ea typeface="PingFang TC"/>
              </a:rPr>
              <a:t>① 認識風險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44952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飼主用 App 看懂毛孩健康風險（對飼主，非核保）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2331720"/>
            <a:ext cx="1847088" cy="1874519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304037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517D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25694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3E66"/>
                </a:solidFill>
                <a:latin typeface="PingFang TC"/>
                <a:ea typeface="PingFang TC"/>
              </a:rPr>
              <a:t>② 降低猶豫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044952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風險被講懂 → 投保意願提升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2331720"/>
            <a:ext cx="1847088" cy="1874519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304037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517D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5694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3E66"/>
                </a:solidFill>
                <a:latin typeface="PingFang TC"/>
                <a:ea typeface="PingFang TC"/>
              </a:rPr>
              <a:t>③ 投保轉換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044952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差異化獲客通路 + 投保前健康基準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2331720"/>
            <a:ext cx="1847088" cy="1874519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04037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517D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5694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3E66"/>
                </a:solidFill>
                <a:latin typeface="PingFang TC"/>
                <a:ea typeface="PingFang TC"/>
              </a:rPr>
              <a:t>④ 使用依賴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3044952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每天用得到的照護工具 → 黏著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331720"/>
            <a:ext cx="1847088" cy="1874519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5694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3E66"/>
                </a:solidFill>
                <a:latin typeface="PingFang TC"/>
                <a:ea typeface="PingFang TC"/>
              </a:rPr>
              <a:t>⑤ 續保留存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44952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資料累積本身，就是續保理由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572000"/>
            <a:ext cx="10506456" cy="713232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681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47FA6"/>
                </a:solidFill>
                <a:latin typeface="PingFang TC"/>
                <a:ea typeface="PingFang TC"/>
              </a:rPr>
              <a:t>關鍵：</a:t>
            </a:r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不只是附加價值，而是「影響購買決策的前一步」——但我們只對飼主把風險講懂，不碰核保、不用數據定價。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486400"/>
            <a:ext cx="10506456" cy="566928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 w="12700">
            <a:solidFill>
              <a:srgbClr val="EA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577840"/>
            <a:ext cx="10049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6B00"/>
                </a:solidFill>
                <a:latin typeface="PingFang TC"/>
                <a:ea typeface="PingFang TC"/>
              </a:rPr>
              <a:t>◆  </a:t>
            </a:r>
            <a:r>
              <a:rPr sz="1050" b="0" i="0">
                <a:solidFill>
                  <a:srgbClr val="6B5526"/>
                </a:solidFill>
                <a:latin typeface="PingFang TC"/>
                <a:ea typeface="PingFang TC"/>
              </a:rPr>
              <a:t>銷售效益為待驗證之合作假設；Pawtient 定位為照護加值與獲客通路，資料不作為核保依據、不用於費率調整，與保險招攬清楚切割。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02 / 08 · 銷售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02 · 應用情境與價值 — 理賠效率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把理賠最花人力的那一步，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量化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下來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5C66"/>
                </a:solidFill>
                <a:latin typeface="PingFang TC"/>
                <a:ea typeface="PingFang TC"/>
              </a:rPr>
              <a:t>我們不報「省多少賠付」——那不是我們談的。我們提供</a:t>
            </a:r>
            <a:r>
              <a:rPr sz="1300" b="1" i="0">
                <a:solidFill>
                  <a:srgbClr val="2F7D6E"/>
                </a:solidFill>
                <a:latin typeface="PingFang TC"/>
                <a:ea typeface="PingFang TC"/>
              </a:rPr>
              <a:t>流程效率的量化框架</a:t>
            </a:r>
            <a:r>
              <a:rPr sz="1300" b="0" i="0">
                <a:solidFill>
                  <a:srgbClr val="6E5C66"/>
                </a:solidFill>
                <a:latin typeface="PingFang TC"/>
                <a:ea typeface="PingFang TC"/>
              </a:rPr>
              <a:t>，數字由和泰用實際數據共同填、共同驗證。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9718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F7D6E"/>
                </a:solidFill>
                <a:latin typeface="PingFang TC"/>
                <a:ea typeface="PingFang TC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9718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平均審核工時</a:t>
            </a:r>
            <a:r>
              <a:rPr sz="1050" b="1" i="0">
                <a:solidFill>
                  <a:srgbClr val="9C8B95"/>
                </a:solidFill>
                <a:latin typeface="PingFang TC"/>
                <a:ea typeface="PingFang TC"/>
              </a:rPr>
              <a:t>　待試點驗證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335584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完整、有時間軸的病史，減少逐筆比對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7889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9718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F7D6E"/>
                </a:solidFill>
                <a:latin typeface="PingFang TC"/>
                <a:ea typeface="PingFang TC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29718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補件往返次數</a:t>
            </a:r>
            <a:r>
              <a:rPr sz="1050" b="1" i="0">
                <a:solidFill>
                  <a:srgbClr val="9C8B95"/>
                </a:solidFill>
                <a:latin typeface="PingFang TC"/>
                <a:ea typeface="PingFang TC"/>
              </a:rPr>
              <a:t>　待試點驗證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344" y="335584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資料一次到位、附來源標註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977639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160519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F7D6E"/>
                </a:solidFill>
                <a:latin typeface="PingFang TC"/>
                <a:ea typeface="PingFang TC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4160519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人工判讀時間</a:t>
            </a:r>
            <a:r>
              <a:rPr sz="1050" b="1" i="0">
                <a:solidFill>
                  <a:srgbClr val="9C8B95"/>
                </a:solidFill>
                <a:latin typeface="PingFang TC"/>
                <a:ea typeface="PingFang TC"/>
              </a:rPr>
              <a:t>　待試點驗證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4544567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AI 預先標示風險點，人工只做核定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977639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4160519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F7D6E"/>
                </a:solidFill>
                <a:latin typeface="PingFang TC"/>
                <a:ea typeface="PingFang TC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4160519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爭議案件比例</a:t>
            </a:r>
            <a:r>
              <a:rPr sz="1050" b="1" i="0">
                <a:solidFill>
                  <a:srgbClr val="9C8B95"/>
                </a:solidFill>
                <a:latin typeface="PingFang TC"/>
                <a:ea typeface="PingFang TC"/>
              </a:rPr>
              <a:t>　待試點驗證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4544567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資料越清楚，認定分歧越小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257800"/>
            <a:ext cx="10506456" cy="566928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 w="12700">
            <a:solidFill>
              <a:srgbClr val="EA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349240"/>
            <a:ext cx="10049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6B00"/>
                </a:solidFill>
                <a:latin typeface="PingFang TC"/>
                <a:ea typeface="PingFang TC"/>
              </a:rPr>
              <a:t>◆  </a:t>
            </a:r>
            <a:r>
              <a:rPr sz="1050" b="0" i="0">
                <a:solidFill>
                  <a:srgbClr val="6B5526"/>
                </a:solidFill>
                <a:latin typeface="PingFang TC"/>
                <a:ea typeface="PingFang TC"/>
              </a:rPr>
              <a:t>只談流程工時與往返次數，不談賠付率／損失率／理賠金額；指標、基準線與最低樣本門檻於試點啟動前與和泰一起議定。AI 只標示風險、最終由理賠人員人工核定。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02 / 08 · 理賠效率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創新銷售方案 · 可產品化設計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可分級的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照護服務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，嵌進寵物險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42316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A8517D"/>
                </a:solidFill>
                <a:latin typeface="PingFang TC"/>
                <a:ea typeface="PingFang TC"/>
              </a:rP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126"/>
                </a:solidFill>
                <a:latin typeface="PingFang TC"/>
                <a:ea typeface="PingFang TC"/>
              </a:rPr>
              <a:t>健康記錄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65760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血檢、用藥、症狀自動整理成可追溯時間軸。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42316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A8517D"/>
                </a:solidFill>
                <a:latin typeface="PingFang TC"/>
                <a:ea typeface="PingFang TC"/>
              </a:rPr>
              <a:t>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126"/>
                </a:solidFill>
                <a:latin typeface="PingFang TC"/>
                <a:ea typeface="PingFang TC"/>
              </a:rPr>
              <a:t>AI 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65760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5C66"/>
                </a:solidFill>
                <a:latin typeface="PingFang TC"/>
                <a:ea typeface="PingFang TC"/>
              </a:rPr>
              <a:t>趨勢、看診行前簡報、AI 健康整理與提醒。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423160"/>
            <a:ext cx="3346704" cy="2377440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D47FA6"/>
                </a:solidFill>
                <a:latin typeface="PingFang TC"/>
                <a:ea typeface="PingFang TC"/>
              </a:rP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TC"/>
                <a:ea typeface="PingFang TC"/>
              </a:rPr>
              <a:t>主動守護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5760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D8BECB"/>
                </a:solidFill>
                <a:latin typeface="PingFang TC"/>
                <a:ea typeface="PingFang TC"/>
              </a:rPr>
              <a:t>Pawtient Watch 被動偵測 + 慢性病衛教內容。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074920"/>
            <a:ext cx="10506456" cy="566928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 w="12700">
            <a:solidFill>
              <a:srgbClr val="EA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166360"/>
            <a:ext cx="10049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6B00"/>
                </a:solidFill>
                <a:latin typeface="PingFang TC"/>
                <a:ea typeface="PingFang TC"/>
              </a:rPr>
              <a:t>◆  </a:t>
            </a:r>
            <a:r>
              <a:rPr sz="1050" b="0" i="0">
                <a:solidFill>
                  <a:srgbClr val="6B5526"/>
                </a:solidFill>
                <a:latin typeface="PingFang TC"/>
                <a:ea typeface="PingFang TC"/>
              </a:rPr>
              <a:t>這是「照護服務」的分級，不是保費分級。保障條款與費率由和泰主導、待法遵評估；行為/健康資料用於服務體驗，不作為核保依據、不影響保費。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創新銷售方案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03 · 如何對應主題 — 創新產險銷售方案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四個可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單獨或組合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先行的方向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468880"/>
            <a:ext cx="5074920" cy="1517904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468880"/>
            <a:ext cx="50800" cy="1517904"/>
          </a:xfrm>
          <a:prstGeom prst="rect">
            <a:avLst/>
          </a:prstGeom>
          <a:solidFill>
            <a:srgbClr val="A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68833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A8517D"/>
                </a:solidFill>
                <a:latin typeface="PingFang TC"/>
                <a:ea typeface="PingFang TC"/>
              </a:rPr>
              <a:t>方向一 · 銷售↑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98094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保戶健康管理加值服務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383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把 Pawtient AI 作為保單附加價值提供給保戶。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468880"/>
            <a:ext cx="5074920" cy="1517904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2468880"/>
            <a:ext cx="50800" cy="1517904"/>
          </a:xfrm>
          <a:prstGeom prst="rect">
            <a:avLst/>
          </a:prstGeom>
          <a:solidFill>
            <a:srgbClr val="A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8833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A8517D"/>
                </a:solidFill>
                <a:latin typeface="PingFang TC"/>
                <a:ea typeface="PingFang TC"/>
              </a:rPr>
              <a:t>方向二 · 銷售↑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8094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協助保戶整理病史時間軸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血檢、看診、用藥與病程自動彙整成可追溯紀錄。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60520"/>
            <a:ext cx="5074920" cy="1517904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160520"/>
            <a:ext cx="50800" cy="1517904"/>
          </a:xfrm>
          <a:prstGeom prst="rect">
            <a:avLst/>
          </a:prstGeom>
          <a:solidFill>
            <a:srgbClr val="2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437997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2F7D6E"/>
                </a:solidFill>
                <a:latin typeface="PingFang TC"/>
                <a:ea typeface="PingFang TC"/>
              </a:rPr>
              <a:t>方向三 · 人工↓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67258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理賠前置整理 · 健康存摺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507492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讓出險時的醫療資料一開始就是結構化數據。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160520"/>
            <a:ext cx="5074920" cy="1517904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4160520"/>
            <a:ext cx="50800" cy="1517904"/>
          </a:xfrm>
          <a:prstGeom prst="rect">
            <a:avLst/>
          </a:prstGeom>
          <a:solidFill>
            <a:srgbClr val="A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37997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A8517D"/>
                </a:solidFill>
                <a:latin typeface="PingFang TC"/>
                <a:ea typeface="PingFang TC"/>
              </a:rPr>
              <a:t>方向四 · 銷售↑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7258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共同規劃健康教育內容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2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慢性病與預防照護衛教，與保戶溝通更深更黏。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03 / 08 · 對應主題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04 · 1.5 個月以上可執行規劃 · 含時程與預期效益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先做一個小而「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可逆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」的試點，用數據說話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423160"/>
            <a:ext cx="3346704" cy="2103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25694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 i="0">
                <a:solidFill>
                  <a:srgbClr val="EBD3D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A8517D"/>
                </a:solidFill>
                <a:latin typeface="PingFang TC"/>
                <a:ea typeface="PingFang TC"/>
              </a:rPr>
              <a:t>第 0–2 週 · 共同設計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選定保戶 + 議定指標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2044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選一小群保戶；啟動前一起議定工時/補件/爭議指標與基準線。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423160"/>
            <a:ext cx="3346704" cy="2103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5694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 i="0">
                <a:solidFill>
                  <a:srgbClr val="EBD3D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A8517D"/>
                </a:solidFill>
                <a:latin typeface="PingFang TC"/>
                <a:ea typeface="PingFang TC"/>
              </a:rPr>
              <a:t>第 3–12 週 · 觀察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免費使用 + 觀察理賠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52044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保戶免費用 Pawtient 三個月；和泰觀察審核效率與爭議變化。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423160"/>
            <a:ext cx="3346704" cy="2103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6768" y="25694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 i="0">
                <a:solidFill>
                  <a:srgbClr val="EBD3D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9748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A8517D"/>
                </a:solidFill>
                <a:latin typeface="PingFang TC"/>
                <a:ea typeface="PingFang TC"/>
              </a:rPr>
              <a:t>複盤 · 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26664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用結果決定擴大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52044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數據有幫助才一起談擴大；無效就乾淨結束。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37760"/>
            <a:ext cx="10506456" cy="566928"/>
          </a:xfrm>
          <a:prstGeom prst="roundRect">
            <a:avLst>
              <a:gd name="adj" fmla="val 6000"/>
            </a:avLst>
          </a:prstGeom>
          <a:solidFill>
            <a:srgbClr val="FBF1D8"/>
          </a:solidFill>
          <a:ln w="12700">
            <a:solidFill>
              <a:srgbClr val="EA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029200"/>
            <a:ext cx="10049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6B00"/>
                </a:solidFill>
                <a:latin typeface="PingFang TC"/>
                <a:ea typeface="PingFang TC"/>
              </a:rPr>
              <a:t>◆  </a:t>
            </a:r>
            <a:r>
              <a:rPr sz="1050" b="0" i="0">
                <a:solidFill>
                  <a:srgbClr val="6B5526"/>
                </a:solidFill>
                <a:latin typeface="PingFang TC"/>
                <a:ea typeface="PingFang TC"/>
              </a:rPr>
              <a:t>不涉系統整合、不簽長約、資料不落地、不作核保依據——完全可逆。效益為待和泰用實際數據共同驗證的假設。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04 / 08 · 可執行規劃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05 · 合作所需關鍵資源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各自帶上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最擅長的一塊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42316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F7E9F0"/>
          </a:solidFill>
          <a:ln w="12700">
            <a:solidFill>
              <a:srgbClr val="EB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697480"/>
            <a:ext cx="4453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A8517D"/>
                </a:solidFill>
                <a:latin typeface="PingFang TC"/>
                <a:ea typeface="PingFang TC"/>
              </a:rPr>
              <a:t>和泰提供 · 皆為既有資源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971800"/>
            <a:ext cx="4453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126"/>
                </a:solidFill>
                <a:latin typeface="PingFang TC"/>
                <a:ea typeface="PingFang TC"/>
              </a:rPr>
              <a:t>幾乎不需額外投入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465575"/>
            <a:ext cx="44531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D47FA6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一批寵物險試點保戶名單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D47FA6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理賠流程窗口與審核端觀察視角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D47FA6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同期匿名基準數據（供共同檢視）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D47FA6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品牌共同露出與通路觸及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242316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453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2F7D6E"/>
                </a:solidFill>
                <a:latin typeface="PingFang TC"/>
                <a:ea typeface="PingFang TC"/>
              </a:rPr>
              <a:t>Pawtient AI 提供 · 已上線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453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126"/>
                </a:solidFill>
                <a:latin typeface="PingFang TC"/>
                <a:ea typeface="PingFang TC"/>
              </a:rPr>
              <a:t>可直接導入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65575"/>
            <a:ext cx="44531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2F7D6E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完整產品：保戶端 App ＋ 理賠審核台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2F7D6E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血檢辨識／語音摘要／時間軸 AI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2F7D6E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試點導入、客戶成功與資料品質把關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1" i="0">
                <a:solidFill>
                  <a:srgbClr val="2F7D6E"/>
                </a:solidFill>
                <a:latin typeface="PingFang TC"/>
                <a:ea typeface="PingFang TC"/>
              </a:rPr>
              <a:t>•  </a:t>
            </a:r>
            <a:r>
              <a:rPr sz="1250" b="1" i="0">
                <a:solidFill>
                  <a:srgbClr val="2B2126"/>
                </a:solidFill>
                <a:latin typeface="PingFang TC"/>
                <a:ea typeface="PingFang TC"/>
              </a:rPr>
              <a:t>9 語系、雙平台，免系統整合</a:t>
            </a: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05 / 08 · 所需資源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06 · 針對主題的相關實績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不是構想，是已可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實機展示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的方案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331720"/>
            <a:ext cx="475488" cy="475488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2313432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投保 · 建立健康基準</a:t>
            </a:r>
          </a:p>
          <a:p>
            <a:pPr algn="l">
              <a:lnSpc>
                <a:spcPct val="132000"/>
              </a:lnSpc>
              <a:spcBef>
                <a:spcPts val="300"/>
              </a:spcBef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投保當下留下可溯源健康基準（如連續 426 天），日後判斷既往症的佐證。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401568"/>
            <a:ext cx="475488" cy="475488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3383280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申請理賠 · 自動組資料包</a:t>
            </a:r>
          </a:p>
          <a:p>
            <a:pPr algn="l">
              <a:lnSpc>
                <a:spcPct val="132000"/>
              </a:lnSpc>
              <a:spcBef>
                <a:spcPts val="300"/>
              </a:spcBef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依時間排序血檢、行為、症狀、費用，每筆標來源。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471416"/>
            <a:ext cx="475488" cy="475488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4453128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B2126"/>
                </a:solidFill>
                <a:latin typeface="PingFang TC"/>
                <a:ea typeface="PingFang TC"/>
              </a:rPr>
              <a:t>AI 預審 · 人工核定</a:t>
            </a:r>
          </a:p>
          <a:p>
            <a:pPr algn="l">
              <a:lnSpc>
                <a:spcPct val="132000"/>
              </a:lnSpc>
              <a:spcBef>
                <a:spcPts val="300"/>
              </a:spcBef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發病時點 × 等待期一張圖看清；AI 標風險、人工核定。雙平台、iOS 1,000+。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331720"/>
            <a:ext cx="1783080" cy="3865806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_owner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344" y="2386584"/>
            <a:ext cx="1673352" cy="375607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81160" y="2331720"/>
            <a:ext cx="1783080" cy="3865474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mo_watch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386584"/>
            <a:ext cx="1673352" cy="37557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06 / 08 · 相關實績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47FA6"/>
                </a:solidFill>
                <a:latin typeface="PingFang TC"/>
                <a:ea typeface="PingFang TC"/>
              </a:rPr>
              <a:t>PLATFORM VISION · 戰略延伸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PingFang TC"/>
                <a:ea typeface="PingFang TC"/>
              </a:rPr>
              <a:t>寵物險是</a:t>
            </a:r>
            <a:r>
              <a:rPr sz="3800" b="1" i="0">
                <a:solidFill>
                  <a:srgbClr val="D47FA6"/>
                </a:solidFill>
                <a:latin typeface="PingFang TC"/>
                <a:ea typeface="PingFang TC"/>
              </a:rPr>
              <a:t>入口</a:t>
            </a:r>
            <a:r>
              <a:rPr sz="3800" b="1" i="0">
                <a:solidFill>
                  <a:srgbClr val="FFFFFF"/>
                </a:solidFill>
                <a:latin typeface="PingFang TC"/>
                <a:ea typeface="PingFang TC"/>
              </a:rPr>
              <a:t>，不是終點。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74320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42232" y="361188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01752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D47FA6"/>
                </a:solidFill>
                <a:latin typeface="PingFang TC"/>
                <a:ea typeface="PingFang TC"/>
              </a:rPr>
              <a:t>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401568"/>
            <a:ext cx="2798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TC"/>
                <a:ea typeface="PingFang TC"/>
              </a:rPr>
              <a:t>寵物險 · 慢性病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114800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D8BECB"/>
                </a:solidFill>
                <a:latin typeface="PingFang TC"/>
                <a:ea typeface="PingFang TC"/>
              </a:rPr>
              <a:t>已上線、可試點的事前健康資料層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74320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361188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47FA6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301752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D47FA6"/>
                </a:solidFill>
                <a:latin typeface="PingFang TC"/>
                <a:ea typeface="PingFang TC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401568"/>
            <a:ext cx="2798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TC"/>
                <a:ea typeface="PingFang TC"/>
              </a:rPr>
              <a:t>寵物險全險種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4114800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D8BECB"/>
                </a:solidFill>
                <a:latin typeface="PingFang TC"/>
                <a:ea typeface="PingFang TC"/>
              </a:rPr>
              <a:t>同一套資料層複用到更多寵物險商品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743200"/>
            <a:ext cx="3346704" cy="2286000"/>
          </a:xfrm>
          <a:prstGeom prst="roundRect">
            <a:avLst>
              <a:gd name="adj" fmla="val 6000"/>
            </a:avLst>
          </a:prstGeom>
          <a:solidFill>
            <a:srgbClr val="8C3E66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01752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D47FA6"/>
                </a:solidFill>
                <a:latin typeface="PingFang TC"/>
                <a:ea typeface="PingFang TC"/>
              </a:rPr>
              <a:t>願景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401568"/>
            <a:ext cx="2798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TC"/>
                <a:ea typeface="PingFang TC"/>
              </a:rPr>
              <a:t>事前資料系統方法論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114800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D8BECB"/>
                </a:solidFill>
                <a:latin typeface="PingFang TC"/>
                <a:ea typeface="PingFang TC"/>
              </a:rPr>
              <a:t>「事前健康/行為資料」可延伸到其他險別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D8BECB"/>
                </a:solidFill>
                <a:latin typeface="PingFang TC"/>
                <a:ea typeface="PingFang TC"/>
              </a:rPr>
              <a:t>我們和和泰先在寵物險把「事前資料 → 銷售與審核」這條路走通，方法論本身就是可複用的資產。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AE8C9D"/>
                </a:solidFill>
                <a:latin typeface="PingFang TC"/>
                <a:ea typeface="PingFang TC"/>
              </a:rPr>
              <a:t>平台願景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07 · 核心團隊　|　08 · 重要成就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能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做成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，而且已經做到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6456" cy="137160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606040"/>
            <a:ext cx="822960" cy="822960"/>
          </a:xfrm>
          <a:prstGeom prst="ellipse">
            <a:avLst/>
          </a:prstGeom>
          <a:solidFill>
            <a:srgbClr val="8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PingFang TC"/>
                <a:ea typeface="PingFang TC"/>
              </a:rPr>
              <a:t>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542032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126"/>
                </a:solidFill>
                <a:latin typeface="PingFang TC"/>
                <a:ea typeface="PingFang TC"/>
              </a:rPr>
              <a:t>林緯軒 Sean Lin</a:t>
            </a:r>
            <a:r>
              <a:rPr sz="1250" b="1" i="0">
                <a:solidFill>
                  <a:srgbClr val="A8517D"/>
                </a:solidFill>
                <a:latin typeface="PingFang TC"/>
                <a:ea typeface="PingFang TC"/>
              </a:rPr>
              <a:t>　創辦人暨執行長 · 機器學習與金融背景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通用創新有限公司（2025/6 成立）。因照護慢性腎病愛貓而親手寫下 Pawtient AI，至今多由本人開發；以 1 名全職 + 專業委外（Android／後端／資安／美術／翻譯）交付雙平台、9 語系。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977639"/>
            <a:ext cx="5074920" cy="960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142231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C3E66"/>
                </a:solidFill>
                <a:latin typeface="PingFang TC"/>
                <a:ea typeface="PingFang TC"/>
              </a:rPr>
              <a:t>iOS 1,000+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52627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雙平台上架，iOS 用戶已突破 1,000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3977639"/>
            <a:ext cx="5074920" cy="960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142231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C3E66"/>
                </a:solidFill>
                <a:latin typeface="PingFang TC"/>
                <a:ea typeface="PingFang TC"/>
              </a:rPr>
              <a:t>95.2% / 91.2%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52627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血檢辨識 / 語音轉錄準確率；諮詢滿意 82.6%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074920"/>
            <a:ext cx="5074920" cy="960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2395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C3E66"/>
                </a:solidFill>
                <a:latin typeface="PingFang TC"/>
                <a:ea typeface="PingFang TC"/>
              </a:rPr>
              <a:t>SBIR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6235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新竹縣地方型 SBIR（G114HS15，NT$950,000）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5074920"/>
            <a:ext cx="5074920" cy="9601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52395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C3E66"/>
                </a:solidFill>
                <a:latin typeface="PingFang TC"/>
                <a:ea typeface="PingFang TC"/>
              </a:rPr>
              <a:t>Claude · ChatGPT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56235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5C66"/>
                </a:solidFill>
                <a:latin typeface="PingFang TC"/>
                <a:ea typeface="PingFang TC"/>
              </a:rPr>
              <a:t>完成官方 AI 連接器整合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07–08 · 團隊與成就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47FA6"/>
                </a:solidFill>
                <a:latin typeface="PingFang TC"/>
                <a:ea typeface="PingFang TC"/>
              </a:rPr>
              <a:t>下一步 ·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FFFFFF"/>
                </a:solidFill>
                <a:latin typeface="PingFang TC"/>
                <a:ea typeface="PingFang TC"/>
              </a:rPr>
              <a:t>給我們 </a:t>
            </a:r>
            <a:r>
              <a:rPr sz="4600" b="1" i="1">
                <a:solidFill>
                  <a:srgbClr val="D47FA6"/>
                </a:solidFill>
                <a:latin typeface="PingFang TC"/>
                <a:ea typeface="PingFang TC"/>
              </a:rPr>
              <a:t>30 分鐘</a:t>
            </a:r>
            <a:r>
              <a:rPr sz="4600" b="1" i="0">
                <a:solidFill>
                  <a:srgbClr val="FFFFFF"/>
                </a:solidFill>
                <a:latin typeface="PingFang TC"/>
                <a:ea typeface="PingFang TC"/>
              </a:rPr>
              <a:t>，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3800" b="1" i="0">
                <a:solidFill>
                  <a:srgbClr val="FFFFFF"/>
                </a:solidFill>
                <a:latin typeface="PingFang TC"/>
                <a:ea typeface="PingFang TC"/>
              </a:rPr>
              <a:t>用一個可逆的試點把假設變成數據。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8BECB"/>
                </a:solidFill>
                <a:latin typeface="PingFang TC"/>
                <a:ea typeface="PingFang TC"/>
              </a:rPr>
              <a:t>和泰有寵物險的銷售與理賠場景，我們有已上線、可實機展示的健康照護證據層。先小規模驗證——有效就一起擴大，無效就乾淨結束。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572000"/>
            <a:ext cx="2418588" cy="4572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681728"/>
            <a:ext cx="2418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6E9F0"/>
                </a:solidFill>
                <a:latin typeface="PingFang TC"/>
                <a:ea typeface="PingFang TC"/>
              </a:rPr>
              <a:t>①  安排 30 分鐘會議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4428" y="4572000"/>
            <a:ext cx="2267712" cy="4572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4428" y="4681728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6E9F0"/>
                </a:solidFill>
                <a:latin typeface="PingFang TC"/>
                <a:ea typeface="PingFang TC"/>
              </a:rPr>
              <a:t>②  啟動一小批保戶試點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6732" y="4572000"/>
            <a:ext cx="2418588" cy="457200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6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6732" y="4681728"/>
            <a:ext cx="2418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6E9F0"/>
                </a:solidFill>
                <a:latin typeface="PingFang TC"/>
                <a:ea typeface="PingFang TC"/>
              </a:rPr>
              <a:t>③  用數據決定要不要擴大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49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通用創新有限公司</a:t>
            </a:r>
            <a:r>
              <a:rPr sz="1250" b="0" i="0">
                <a:solidFill>
                  <a:srgbClr val="D8BECB"/>
                </a:solidFill>
                <a:latin typeface="PingFang TC"/>
                <a:ea typeface="PingFang TC"/>
              </a:rPr>
              <a:t>      創辦人 林緯軒 Sean Lin      generalrev.com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806440"/>
            <a:ext cx="10506456" cy="713232"/>
          </a:xfrm>
          <a:prstGeom prst="roundRect">
            <a:avLst>
              <a:gd name="adj" fmla="val 6000"/>
            </a:avLst>
          </a:prstGeom>
          <a:solidFill>
            <a:srgbClr val="3A2230"/>
          </a:solidFill>
          <a:ln w="12700">
            <a:solidFill>
              <a:srgbClr val="52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907024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D47FA6"/>
                </a:solidFill>
                <a:latin typeface="PingFang TC"/>
                <a:ea typeface="PingFang TC"/>
              </a:rPr>
              <a:t>◆  </a:t>
            </a:r>
            <a:r>
              <a:rPr sz="950" b="0" i="0">
                <a:solidFill>
                  <a:srgbClr val="AE8C9D"/>
                </a:solidFill>
                <a:latin typeface="PingFang TC"/>
                <a:ea typeface="PingFang TC"/>
              </a:rPr>
              <a:t>保險相關效益為待驗證之合作假設；客戶情境為代表性情境。資料不作為核保依據。Pawtient AI 為健康紀錄與整理工具，AI 內容僅供整理參考，不構成醫療診斷、不取代獸醫師。每筆資料標註來源。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A8517D"/>
                </a:solidFill>
                <a:latin typeface="PingFang TC"/>
                <a:ea typeface="PingFang TC"/>
              </a:rPr>
              <a:t>APPENDIX · 資料 · 隱私 · 法遵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77824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我們</a:t>
            </a:r>
            <a:r>
              <a:rPr sz="3300" b="1" i="0">
                <a:solidFill>
                  <a:srgbClr val="8C3E66"/>
                </a:solidFill>
                <a:latin typeface="PingFang TC"/>
                <a:ea typeface="PingFang TC"/>
              </a:rPr>
              <a:t>先解掉</a:t>
            </a:r>
            <a:r>
              <a:rPr sz="3300" b="1" i="0">
                <a:solidFill>
                  <a:srgbClr val="2B2126"/>
                </a:solidFill>
                <a:latin typeface="PingFang TC"/>
                <a:ea typeface="PingFang TC"/>
              </a:rPr>
              <a:t>你最先會問的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566928" cy="50800"/>
          </a:xfrm>
          <a:prstGeom prst="rect">
            <a:avLst/>
          </a:prstGeom>
          <a:solidFill>
            <a:srgbClr val="D4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423160"/>
            <a:ext cx="5074920" cy="16459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660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D47FA6"/>
                </a:solidFill>
                <a:latin typeface="PingFang TC"/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679192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資料屬於保戶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308152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保戶始終擁有自己的健康資料，可隨時匯出或刪除；Pawtient 僅為受託整理者。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2423160"/>
            <a:ext cx="5074920" cy="16459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6609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D47FA6"/>
                </a:solidFill>
                <a:latin typeface="PingFang TC"/>
                <a:ea typeface="PingFang T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2679192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明確同意 · 符合個資法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308152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所有蒐集與使用皆先取得保戶明確同意，並符合個人資料保護法。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297680"/>
            <a:ext cx="5074920" cy="16459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5354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D47FA6"/>
                </a:solidFill>
                <a:latin typeface="PingFang TC"/>
                <a:ea typeface="PingFang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4553712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不作為核保依據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495604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定位為照護加值與理賠整理，資料不用於核保或費率調整，與招攬清楚切割。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297680"/>
            <a:ext cx="5074920" cy="164592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A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45354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D47FA6"/>
                </a:solidFill>
                <a:latin typeface="PingFang TC"/>
                <a:ea typeface="PingFang T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4553712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126"/>
                </a:solidFill>
                <a:latin typeface="PingFang TC"/>
                <a:ea typeface="PingFang TC"/>
              </a:rPr>
              <a:t>加密 · 可攜 · 可退出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495604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5C66"/>
                </a:solidFill>
                <a:latin typeface="PingFang TC"/>
                <a:ea typeface="PingFang TC"/>
              </a:rPr>
              <a:t>傳輸與儲存皆加密、最小化存取；合作結束資料可攜出，不被綁定。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50">
                <a:solidFill>
                  <a:srgbClr val="9C8B95"/>
                </a:solidFill>
                <a:latin typeface="PingFang TC"/>
                <a:ea typeface="PingFang TC"/>
              </a:rPr>
              <a:t>Appendix · 法遵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